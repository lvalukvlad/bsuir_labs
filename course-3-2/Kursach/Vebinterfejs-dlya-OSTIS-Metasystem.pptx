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Quattrocento" panose="020B0604020202020204" charset="0"/>
      <p:regular r:id="rId18"/>
    </p:embeddedFont>
  </p:embeddedFontLst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15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github.com/Kukrynitza/ostis-cours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47969"/>
            <a:ext cx="101697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Веб‑интерфейс для OSTIS Metasystem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91095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Курсовой проект по дисциплине «Модели решения задач в интеллектуальных системах».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563183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Цель — разработать удобный веб‑интерфейс для взаимодействия с базой знаний и интеллектуальной обработки информации.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98432"/>
            <a:ext cx="12954952" cy="1783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Регистрация и авторизация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Интерактивная работа с базой знаний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AI‑ассистент для НЯ обработки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Экспорт данных (PNG/SVG)</a:t>
            </a:r>
            <a:endParaRPr lang="en-US" sz="18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2B225A4-EA63-478C-A0A0-1F6748187CB6}"/>
              </a:ext>
            </a:extLst>
          </p:cNvPr>
          <p:cNvSpPr/>
          <p:nvPr/>
        </p:nvSpPr>
        <p:spPr>
          <a:xfrm>
            <a:off x="12823116" y="7628691"/>
            <a:ext cx="1807284" cy="469976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6050" y="2606040"/>
            <a:ext cx="3162300" cy="3017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5905" y="577691"/>
            <a:ext cx="4048363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Архитектура системы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75905" y="1231344"/>
            <a:ext cx="799218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Система состоит из четырёх ключевых компонентов, связанных HTTP и WebSocket соединениями: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575905" y="1827490"/>
            <a:ext cx="7992189" cy="1352669"/>
          </a:xfrm>
          <a:prstGeom prst="roundRect">
            <a:avLst>
              <a:gd name="adj" fmla="val 8112"/>
            </a:avLst>
          </a:prstGeom>
          <a:solidFill>
            <a:srgbClr val="123332"/>
          </a:solidFill>
          <a:ln/>
        </p:spPr>
      </p:sp>
      <p:sp>
        <p:nvSpPr>
          <p:cNvPr id="7" name="Shape 3"/>
          <p:cNvSpPr/>
          <p:nvPr/>
        </p:nvSpPr>
        <p:spPr>
          <a:xfrm>
            <a:off x="575905" y="1804630"/>
            <a:ext cx="7992189" cy="91440"/>
          </a:xfrm>
          <a:prstGeom prst="roundRect">
            <a:avLst>
              <a:gd name="adj" fmla="val 26997"/>
            </a:avLst>
          </a:prstGeom>
          <a:solidFill>
            <a:srgbClr val="EF9C82"/>
          </a:solidFill>
          <a:ln/>
        </p:spPr>
      </p:sp>
      <p:sp>
        <p:nvSpPr>
          <p:cNvPr id="8" name="Shape 4"/>
          <p:cNvSpPr/>
          <p:nvPr/>
        </p:nvSpPr>
        <p:spPr>
          <a:xfrm>
            <a:off x="4325183" y="1580674"/>
            <a:ext cx="493633" cy="493633"/>
          </a:xfrm>
          <a:prstGeom prst="roundRect">
            <a:avLst>
              <a:gd name="adj" fmla="val 185239"/>
            </a:avLst>
          </a:prstGeom>
          <a:solidFill>
            <a:srgbClr val="EF9C82"/>
          </a:solidFill>
          <a:ln/>
        </p:spPr>
      </p:sp>
      <p:sp>
        <p:nvSpPr>
          <p:cNvPr id="9" name="Text 5"/>
          <p:cNvSpPr/>
          <p:nvPr/>
        </p:nvSpPr>
        <p:spPr>
          <a:xfrm>
            <a:off x="4473297" y="1704023"/>
            <a:ext cx="19740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63310" y="2238851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sc-machine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63310" y="2548652"/>
            <a:ext cx="7617381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Ядро системы — хранение и логика БЗ (sc‑machine). Отвечает за семантическую обработку и хранение данных.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75905" y="3540085"/>
            <a:ext cx="7992189" cy="1130618"/>
          </a:xfrm>
          <a:prstGeom prst="roundRect">
            <a:avLst>
              <a:gd name="adj" fmla="val 9705"/>
            </a:avLst>
          </a:prstGeom>
          <a:solidFill>
            <a:srgbClr val="123332"/>
          </a:solidFill>
          <a:ln/>
        </p:spPr>
      </p:sp>
      <p:sp>
        <p:nvSpPr>
          <p:cNvPr id="13" name="Shape 9"/>
          <p:cNvSpPr/>
          <p:nvPr/>
        </p:nvSpPr>
        <p:spPr>
          <a:xfrm>
            <a:off x="575905" y="3517225"/>
            <a:ext cx="7992189" cy="91440"/>
          </a:xfrm>
          <a:prstGeom prst="roundRect">
            <a:avLst>
              <a:gd name="adj" fmla="val 26997"/>
            </a:avLst>
          </a:prstGeom>
          <a:solidFill>
            <a:srgbClr val="EF9C82"/>
          </a:solidFill>
          <a:ln/>
        </p:spPr>
      </p:sp>
      <p:sp>
        <p:nvSpPr>
          <p:cNvPr id="14" name="Shape 10"/>
          <p:cNvSpPr/>
          <p:nvPr/>
        </p:nvSpPr>
        <p:spPr>
          <a:xfrm>
            <a:off x="4325183" y="3293269"/>
            <a:ext cx="493633" cy="493633"/>
          </a:xfrm>
          <a:prstGeom prst="roundRect">
            <a:avLst>
              <a:gd name="adj" fmla="val 185239"/>
            </a:avLst>
          </a:prstGeom>
          <a:solidFill>
            <a:srgbClr val="EF9C82"/>
          </a:solidFill>
          <a:ln/>
        </p:spPr>
      </p:sp>
      <p:sp>
        <p:nvSpPr>
          <p:cNvPr id="15" name="Text 11"/>
          <p:cNvSpPr/>
          <p:nvPr/>
        </p:nvSpPr>
        <p:spPr>
          <a:xfrm>
            <a:off x="4473297" y="3416618"/>
            <a:ext cx="19740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763310" y="3951446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sc-web (Python)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63310" y="4261247"/>
            <a:ext cx="761738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Веб‑сервер: авторизация, REST API, проксирование WebSocket соединений.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75905" y="5030629"/>
            <a:ext cx="7992189" cy="1130618"/>
          </a:xfrm>
          <a:prstGeom prst="roundRect">
            <a:avLst>
              <a:gd name="adj" fmla="val 9705"/>
            </a:avLst>
          </a:prstGeom>
          <a:solidFill>
            <a:srgbClr val="123332"/>
          </a:solidFill>
          <a:ln/>
        </p:spPr>
      </p:sp>
      <p:sp>
        <p:nvSpPr>
          <p:cNvPr id="19" name="Shape 15"/>
          <p:cNvSpPr/>
          <p:nvPr/>
        </p:nvSpPr>
        <p:spPr>
          <a:xfrm>
            <a:off x="575905" y="5007769"/>
            <a:ext cx="7992189" cy="91440"/>
          </a:xfrm>
          <a:prstGeom prst="roundRect">
            <a:avLst>
              <a:gd name="adj" fmla="val 26997"/>
            </a:avLst>
          </a:prstGeom>
          <a:solidFill>
            <a:srgbClr val="EF9C82"/>
          </a:solidFill>
          <a:ln/>
        </p:spPr>
      </p:sp>
      <p:sp>
        <p:nvSpPr>
          <p:cNvPr id="20" name="Shape 16"/>
          <p:cNvSpPr/>
          <p:nvPr/>
        </p:nvSpPr>
        <p:spPr>
          <a:xfrm>
            <a:off x="4325183" y="4783812"/>
            <a:ext cx="493633" cy="493633"/>
          </a:xfrm>
          <a:prstGeom prst="roundRect">
            <a:avLst>
              <a:gd name="adj" fmla="val 185239"/>
            </a:avLst>
          </a:prstGeom>
          <a:solidFill>
            <a:srgbClr val="EF9C82"/>
          </a:solidFill>
          <a:ln/>
        </p:spPr>
      </p:sp>
      <p:sp>
        <p:nvSpPr>
          <p:cNvPr id="21" name="Text 17"/>
          <p:cNvSpPr/>
          <p:nvPr/>
        </p:nvSpPr>
        <p:spPr>
          <a:xfrm>
            <a:off x="4473297" y="4907161"/>
            <a:ext cx="19740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763310" y="5441990"/>
            <a:ext cx="2136458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problem-solver (Python)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63310" y="5751790"/>
            <a:ext cx="761738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Сервер логики: преобразование запросов, выполнение алгоритмов решения задач.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75905" y="6521172"/>
            <a:ext cx="7992189" cy="1130618"/>
          </a:xfrm>
          <a:prstGeom prst="roundRect">
            <a:avLst>
              <a:gd name="adj" fmla="val 9705"/>
            </a:avLst>
          </a:prstGeom>
          <a:solidFill>
            <a:srgbClr val="123332"/>
          </a:solidFill>
          <a:ln/>
        </p:spPr>
      </p:sp>
      <p:sp>
        <p:nvSpPr>
          <p:cNvPr id="25" name="Shape 21"/>
          <p:cNvSpPr/>
          <p:nvPr/>
        </p:nvSpPr>
        <p:spPr>
          <a:xfrm>
            <a:off x="575905" y="6498312"/>
            <a:ext cx="7992189" cy="91440"/>
          </a:xfrm>
          <a:prstGeom prst="roundRect">
            <a:avLst>
              <a:gd name="adj" fmla="val 26997"/>
            </a:avLst>
          </a:prstGeom>
          <a:solidFill>
            <a:srgbClr val="EF9C82"/>
          </a:solidFill>
          <a:ln/>
        </p:spPr>
      </p:sp>
      <p:sp>
        <p:nvSpPr>
          <p:cNvPr id="26" name="Shape 22"/>
          <p:cNvSpPr/>
          <p:nvPr/>
        </p:nvSpPr>
        <p:spPr>
          <a:xfrm>
            <a:off x="4325183" y="6274356"/>
            <a:ext cx="493633" cy="493633"/>
          </a:xfrm>
          <a:prstGeom prst="roundRect">
            <a:avLst>
              <a:gd name="adj" fmla="val 185239"/>
            </a:avLst>
          </a:prstGeom>
          <a:solidFill>
            <a:srgbClr val="EF9C82"/>
          </a:solidFill>
          <a:ln/>
        </p:spPr>
      </p:sp>
      <p:sp>
        <p:nvSpPr>
          <p:cNvPr id="27" name="Text 23"/>
          <p:cNvSpPr/>
          <p:nvPr/>
        </p:nvSpPr>
        <p:spPr>
          <a:xfrm>
            <a:off x="4473297" y="6397704"/>
            <a:ext cx="19740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550" dirty="0"/>
          </a:p>
        </p:txBody>
      </p:sp>
      <p:sp>
        <p:nvSpPr>
          <p:cNvPr id="28" name="Text 24"/>
          <p:cNvSpPr/>
          <p:nvPr/>
        </p:nvSpPr>
        <p:spPr>
          <a:xfrm>
            <a:off x="763310" y="6932533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 Frontend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763310" y="7242334"/>
            <a:ext cx="761738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Пользовательский интерфейс на TypeScript, визуализация SCG/SCN, взаимодействие с AskAI.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86376"/>
            <a:ext cx="89745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Команда и распределение задач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95023"/>
            <a:ext cx="30715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Участники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37724" y="4938355"/>
            <a:ext cx="307157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01" y="2818567"/>
            <a:ext cx="637937" cy="6379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37942" y="2818567"/>
            <a:ext cx="1963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Илья Политыко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37942" y="3761780"/>
            <a:ext cx="1963103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Система пользователей: регистрация, авторизация, экспорт PNG/SVG, тёмная тема.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248" y="2818567"/>
            <a:ext cx="638056" cy="63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37508" y="2818567"/>
            <a:ext cx="1963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Владислав Лукашов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637508" y="3761780"/>
            <a:ext cx="196310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Интеллектуальный интерфейс: AskAI, подсказки, интеграция модулей.</a:t>
            </a:r>
            <a:endParaRPr lang="en-US" sz="1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815" y="2818567"/>
            <a:ext cx="638056" cy="638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37075" y="2818567"/>
            <a:ext cx="19631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Роман Гринь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1837075" y="3409831"/>
            <a:ext cx="1963103" cy="3064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Навигация и история: клавиатурная навигация, сохранение настроек, контекстное меню.</a:t>
            </a:r>
            <a:endParaRPr lang="en-US" sz="18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8E73D5F-C059-4F64-AE03-55F70A2CF883}"/>
              </a:ext>
            </a:extLst>
          </p:cNvPr>
          <p:cNvSpPr/>
          <p:nvPr/>
        </p:nvSpPr>
        <p:spPr>
          <a:xfrm>
            <a:off x="12823116" y="7628691"/>
            <a:ext cx="1807284" cy="469976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8049" y="735687"/>
            <a:ext cx="7409974" cy="68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Регистрация и авторизация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98049" y="1754624"/>
            <a:ext cx="752070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Реализована полноценная система пользователей с акцентом на безопасность и удобство.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298049" y="2737842"/>
            <a:ext cx="521732" cy="521732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7044333" y="2817495"/>
            <a:ext cx="3584615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Валидация и безопасность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044333" y="3293150"/>
            <a:ext cx="6774418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Проверка логина, email; безопасное хранение паролей; сохранение сессии.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98049" y="4472940"/>
            <a:ext cx="521732" cy="521732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7044333" y="4552593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Персонализация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044333" y="5028248"/>
            <a:ext cx="6774418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Каждый пользователь видит собственную историю запросов и настройки интерфейса.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98049" y="6208038"/>
            <a:ext cx="521732" cy="521732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2" name="Text 9"/>
          <p:cNvSpPr/>
          <p:nvPr/>
        </p:nvSpPr>
        <p:spPr>
          <a:xfrm>
            <a:off x="7044333" y="6287691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Роли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044333" y="6763345"/>
            <a:ext cx="6774418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Ролевая модель: пользователь и администратор с разграничением прав.</a:t>
            </a:r>
            <a:endParaRPr lang="en-US" sz="18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7ACCB5F-E511-4DAC-AE15-52417B6BB11E}"/>
              </a:ext>
            </a:extLst>
          </p:cNvPr>
          <p:cNvSpPr/>
          <p:nvPr/>
        </p:nvSpPr>
        <p:spPr>
          <a:xfrm>
            <a:off x="12823116" y="7628691"/>
            <a:ext cx="1807284" cy="469976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66932"/>
            <a:ext cx="1011840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Экспорт данных и темы оформления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44530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Ключевые возможности для удобной работы и документирования: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426738"/>
            <a:ext cx="6185535" cy="20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Экспорт SCG‑графиков в PNG (растровый) и SVG (векторный)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Тёмная и светлая темы — переключение в 1 клик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Экспорт сохраняет метаданные и масштабирование графа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614761" y="2499122"/>
            <a:ext cx="2973110" cy="2601992"/>
          </a:xfrm>
          <a:prstGeom prst="roundRect">
            <a:avLst>
              <a:gd name="adj" fmla="val 1380"/>
            </a:avLst>
          </a:prstGeom>
          <a:solidFill>
            <a:srgbClr val="315251"/>
          </a:solidFill>
          <a:ln/>
        </p:spPr>
      </p:sp>
      <p:sp>
        <p:nvSpPr>
          <p:cNvPr id="6" name="Text 4"/>
          <p:cNvSpPr/>
          <p:nvPr/>
        </p:nvSpPr>
        <p:spPr>
          <a:xfrm>
            <a:off x="7854077" y="2738437"/>
            <a:ext cx="24944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54077" y="3329702"/>
            <a:ext cx="249447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Быстрая генерация для документации и отчётов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10827187" y="2499122"/>
            <a:ext cx="2973110" cy="2601992"/>
          </a:xfrm>
          <a:prstGeom prst="roundRect">
            <a:avLst>
              <a:gd name="adj" fmla="val 1380"/>
            </a:avLst>
          </a:prstGeom>
          <a:solidFill>
            <a:srgbClr val="315251"/>
          </a:solidFill>
          <a:ln/>
        </p:spPr>
      </p:sp>
      <p:sp>
        <p:nvSpPr>
          <p:cNvPr id="9" name="Text 7"/>
          <p:cNvSpPr/>
          <p:nvPr/>
        </p:nvSpPr>
        <p:spPr>
          <a:xfrm>
            <a:off x="11066502" y="2738437"/>
            <a:ext cx="24944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SVG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66502" y="3329702"/>
            <a:ext cx="249447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Вектор для публикаций и последующей правки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614761" y="5340429"/>
            <a:ext cx="6185535" cy="1452920"/>
          </a:xfrm>
          <a:prstGeom prst="roundRect">
            <a:avLst>
              <a:gd name="adj" fmla="val 2471"/>
            </a:avLst>
          </a:prstGeom>
          <a:solidFill>
            <a:srgbClr val="315251"/>
          </a:solidFill>
          <a:ln/>
        </p:spPr>
      </p:sp>
      <p:sp>
        <p:nvSpPr>
          <p:cNvPr id="12" name="Text 10"/>
          <p:cNvSpPr/>
          <p:nvPr/>
        </p:nvSpPr>
        <p:spPr>
          <a:xfrm>
            <a:off x="7854077" y="55797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Темы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54077" y="6171009"/>
            <a:ext cx="570690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Сохранение предпочтений в localStorage</a:t>
            </a:r>
            <a:endParaRPr lang="en-US" sz="18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FB7AACC-1FD5-45E3-B5AC-AAB68BD9FA5F}"/>
              </a:ext>
            </a:extLst>
          </p:cNvPr>
          <p:cNvSpPr/>
          <p:nvPr/>
        </p:nvSpPr>
        <p:spPr>
          <a:xfrm>
            <a:off x="12823116" y="7628691"/>
            <a:ext cx="1807284" cy="469976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43376"/>
            <a:ext cx="849201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Обучающий модуль «Справка»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0636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Интегрированный обучающий раздел помогает новым пользователям быстро стартовать.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3958590"/>
            <a:ext cx="598408" cy="598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5336" y="3958590"/>
            <a:ext cx="322123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Пошаговые инструкции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35336" y="4806077"/>
            <a:ext cx="322123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Пошаговые руководства по основным сценариям работы с системой.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5776" y="3958590"/>
            <a:ext cx="598408" cy="5984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53388" y="3958590"/>
            <a:ext cx="28524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Команды и примеры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153388" y="4454128"/>
            <a:ext cx="322123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Описание доступных команд и примеры формирования SC‑запросов.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3828" y="3958590"/>
            <a:ext cx="598408" cy="5984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71440" y="3958590"/>
            <a:ext cx="322123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Интеграция в интерфейс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571440" y="4806077"/>
            <a:ext cx="322123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Справка встроена в главный интерфейс и доступна контекстно.</a:t>
            </a:r>
            <a:endParaRPr lang="en-US" sz="18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E5CC5F5-9CC8-4307-9845-DC80FEB8E6FE}"/>
              </a:ext>
            </a:extLst>
          </p:cNvPr>
          <p:cNvSpPr/>
          <p:nvPr/>
        </p:nvSpPr>
        <p:spPr>
          <a:xfrm>
            <a:off x="12823116" y="7628691"/>
            <a:ext cx="1807284" cy="469976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062" y="2504480"/>
            <a:ext cx="5258157" cy="322064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8552" y="633293"/>
            <a:ext cx="7546896" cy="1342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AskAI — интеллектуальный диалоговый помощник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798552" y="2301478"/>
            <a:ext cx="7546896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AI‑ассистент обрабатывает запросы на естественном языке и помогает формировать корректные SC‑запросы.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8552" y="3258741"/>
            <a:ext cx="45624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anose="020B060402020202020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1750" dirty="0">
              <a:latin typeface="Quattrocento" panose="020B060402020202020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98552" y="3616047"/>
            <a:ext cx="3664744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8" name="Text 4"/>
          <p:cNvSpPr/>
          <p:nvPr/>
        </p:nvSpPr>
        <p:spPr>
          <a:xfrm>
            <a:off x="798552" y="3791069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1. Ввод запроса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98552" y="4256842"/>
            <a:ext cx="3664744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Пользователь задаёт вопрос на русском или английском.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680704" y="3258741"/>
            <a:ext cx="45624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anose="020B060402020202020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1750" dirty="0">
              <a:latin typeface="Quattrocento" panose="020B060402020202020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680704" y="3616047"/>
            <a:ext cx="3664744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2" name="Text 8"/>
          <p:cNvSpPr/>
          <p:nvPr/>
        </p:nvSpPr>
        <p:spPr>
          <a:xfrm>
            <a:off x="4680704" y="3791069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2. Преобразование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680704" y="4256842"/>
            <a:ext cx="3664744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AskAI конвертирует НЯ в SC‑код и предлагает варианты действий.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98552" y="5714405"/>
            <a:ext cx="45624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anose="020B0604020202020204" charset="0"/>
                <a:ea typeface="Quattrocento Light" pitchFamily="34" charset="-122"/>
                <a:cs typeface="Quattrocento Light" pitchFamily="34" charset="-120"/>
              </a:rPr>
              <a:t>03</a:t>
            </a:r>
            <a:endParaRPr lang="en-US" sz="1750" dirty="0">
              <a:latin typeface="Quattrocento" panose="020B060402020202020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8552" y="6071711"/>
            <a:ext cx="7546896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6" name="Text 12"/>
          <p:cNvSpPr/>
          <p:nvPr/>
        </p:nvSpPr>
        <p:spPr>
          <a:xfrm>
            <a:off x="798552" y="6246733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 Обратная связь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798552" y="6712506"/>
            <a:ext cx="7546896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Понятные ответы, подсказки ввода и история диалога для отслеживания контекста.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" y="3520440"/>
            <a:ext cx="444246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71855" y="682466"/>
            <a:ext cx="7573089" cy="131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UX‑улучшения: подсказки и контекстное меню</a:t>
            </a:r>
            <a:endParaRPr lang="en-US" sz="4150" dirty="0"/>
          </a:p>
        </p:txBody>
      </p:sp>
      <p:sp>
        <p:nvSpPr>
          <p:cNvPr id="5" name="Text 1"/>
          <p:cNvSpPr/>
          <p:nvPr/>
        </p:nvSpPr>
        <p:spPr>
          <a:xfrm>
            <a:off x="6271855" y="2317909"/>
            <a:ext cx="7573089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Мелкие, но важные улучшения повышают скорость работы и снижают кривую обучения.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6032" y="3256895"/>
            <a:ext cx="336590" cy="3365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001113" y="3250049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Tooltips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7001113" y="3706297"/>
            <a:ext cx="6843832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Информационные подсказки при наведении на элементы интерфейса (команды, кнопки, узлы графа).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6032" y="4829473"/>
            <a:ext cx="336590" cy="33659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001113" y="4822627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Контекстное меню</a:t>
            </a:r>
            <a:endParaRPr lang="en-US" sz="2050" dirty="0"/>
          </a:p>
        </p:txBody>
      </p:sp>
      <p:sp>
        <p:nvSpPr>
          <p:cNvPr id="11" name="Text 5"/>
          <p:cNvSpPr/>
          <p:nvPr/>
        </p:nvSpPr>
        <p:spPr>
          <a:xfrm>
            <a:off x="7001113" y="5278874"/>
            <a:ext cx="6843832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Действия над элементами графа: открыть, редактировать, найти связи, задать вопрос AskAI.</a:t>
            </a:r>
            <a:endParaRPr lang="en-US" sz="17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6032" y="6402050"/>
            <a:ext cx="336590" cy="33659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001113" y="6395204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Подсказки ввода</a:t>
            </a:r>
            <a:endParaRPr lang="en-US" sz="2050" dirty="0"/>
          </a:p>
        </p:txBody>
      </p:sp>
      <p:sp>
        <p:nvSpPr>
          <p:cNvPr id="14" name="Text 7"/>
          <p:cNvSpPr/>
          <p:nvPr/>
        </p:nvSpPr>
        <p:spPr>
          <a:xfrm>
            <a:off x="7001113" y="6851452"/>
            <a:ext cx="6843832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Автодополнение и шаблоны запросов для ускоренного формирования SC‑структур.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9260356-0F63-4D01-8580-D552535E773E}"/>
              </a:ext>
            </a:extLst>
          </p:cNvPr>
          <p:cNvSpPr/>
          <p:nvPr/>
        </p:nvSpPr>
        <p:spPr>
          <a:xfrm>
            <a:off x="12823116" y="7628691"/>
            <a:ext cx="1807284" cy="469976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2895600"/>
            <a:ext cx="3581400" cy="2438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8552" y="654606"/>
            <a:ext cx="7546896" cy="1342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История запросов и навигация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798552" y="2518410"/>
            <a:ext cx="3495199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Функции, реализованные для удобной навигации и управления историей: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8552" y="3783092"/>
            <a:ext cx="3495199" cy="371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Удаление отдельных записей и очистка всей истории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Сохранение режима SCG/SCN и настроек в localStorage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Навигация по истории с клавиатуры (ArrowUp/Down, Enter, Escape)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857869" y="2567345"/>
            <a:ext cx="3495199" cy="2434471"/>
          </a:xfrm>
          <a:prstGeom prst="roundRect">
            <a:avLst>
              <a:gd name="adj" fmla="val 1406"/>
            </a:avLst>
          </a:prstGeom>
          <a:solidFill>
            <a:srgbClr val="315251"/>
          </a:solidFill>
          <a:ln/>
        </p:spPr>
      </p:sp>
      <p:sp>
        <p:nvSpPr>
          <p:cNvPr id="8" name="Text 4"/>
          <p:cNvSpPr/>
          <p:nvPr/>
        </p:nvSpPr>
        <p:spPr>
          <a:xfrm>
            <a:off x="5085993" y="2795468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Сохранение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085993" y="3348276"/>
            <a:ext cx="3038951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localStorage для пользовательских предпочтений и быстрых сценариев.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857869" y="5219224"/>
            <a:ext cx="3495199" cy="2078117"/>
          </a:xfrm>
          <a:prstGeom prst="roundRect">
            <a:avLst>
              <a:gd name="adj" fmla="val 1647"/>
            </a:avLst>
          </a:prstGeom>
          <a:solidFill>
            <a:srgbClr val="315251"/>
          </a:solidFill>
          <a:ln/>
        </p:spPr>
      </p:sp>
      <p:sp>
        <p:nvSpPr>
          <p:cNvPr id="11" name="Text 7"/>
          <p:cNvSpPr/>
          <p:nvPr/>
        </p:nvSpPr>
        <p:spPr>
          <a:xfrm>
            <a:off x="5085993" y="5447348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Контекст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085993" y="6000155"/>
            <a:ext cx="3038951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Контекстное меню с быстрыми действиями по элементам истории.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2655" y="588883"/>
            <a:ext cx="10575846" cy="550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Результаты, стек технологий и дальнейшие шаги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42655" y="1504117"/>
            <a:ext cx="220015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Достигнуто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42655" y="1925241"/>
            <a:ext cx="5844302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Три функциональных блока, интегрированные между собой</a:t>
            </a:r>
            <a:endParaRPr lang="en-US" sz="14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Рабочая система: регистрация, история, экспорт, AskAI, UX‑улучшения</a:t>
            </a:r>
            <a:endParaRPr lang="en-US" sz="14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Тестирование основных сценариев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242655" y="3224689"/>
            <a:ext cx="584430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Демонстрация: запуск на localhost:3000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42655" y="3622596"/>
            <a:ext cx="5844302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Дальнейшее развитие:</a:t>
            </a: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расширение AI‑возможностей, плагинная архитектура, улучшение мобильного интерфейса.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50825" y="1504117"/>
            <a:ext cx="237815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Технологический стек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0825" y="1943457"/>
            <a:ext cx="467439" cy="4674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50825" y="2593419"/>
            <a:ext cx="220015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50825" y="3014543"/>
            <a:ext cx="584430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 18, TypeScript, styled‑components, Redux Toolkit, WebSocket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0825" y="3573185"/>
            <a:ext cx="467439" cy="4674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50825" y="4223147"/>
            <a:ext cx="220015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50825" y="4644271"/>
            <a:ext cx="584430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Python 3.9+, Tornado, py‑sc‑client, py‑sc‑kpm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0825" y="5202912"/>
            <a:ext cx="467439" cy="4674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50825" y="5852874"/>
            <a:ext cx="220015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Ядро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7550825" y="6273998"/>
            <a:ext cx="584430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OSTIS Metasystem (sc‑machine)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550825" y="6704767"/>
            <a:ext cx="5844302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Инструменты: Git, npm, venv. Репозиторий: </a:t>
            </a:r>
            <a:r>
              <a:rPr lang="en-US" sz="1450" u="sng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github.com/Kukrynitza/ostis-course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1242655" y="7580114"/>
            <a:ext cx="12144970" cy="13930"/>
          </a:xfrm>
          <a:prstGeom prst="rect">
            <a:avLst/>
          </a:prstGeom>
          <a:solidFill>
            <a:srgbClr val="F9EEE7">
              <a:alpha val="50000"/>
            </a:srgbClr>
          </a:solidFill>
          <a:ln/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668692A-6F73-48C3-885D-08ACF7DAD357}"/>
              </a:ext>
            </a:extLst>
          </p:cNvPr>
          <p:cNvSpPr/>
          <p:nvPr/>
        </p:nvSpPr>
        <p:spPr>
          <a:xfrm>
            <a:off x="12823116" y="7628691"/>
            <a:ext cx="1807284" cy="469976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7757" y="2963704"/>
            <a:ext cx="8614767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0"/>
              </a:lnSpc>
              <a:buNone/>
            </a:pPr>
            <a:r>
              <a:rPr lang="en-US" sz="6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Спасибо за внимание! </a:t>
            </a:r>
            <a:endParaRPr lang="en-US" sz="6100" dirty="0"/>
          </a:p>
        </p:txBody>
      </p:sp>
      <p:sp>
        <p:nvSpPr>
          <p:cNvPr id="3" name="Text 1"/>
          <p:cNvSpPr/>
          <p:nvPr/>
        </p:nvSpPr>
        <p:spPr>
          <a:xfrm>
            <a:off x="1760577" y="4294227"/>
            <a:ext cx="11109127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0"/>
              </a:lnSpc>
              <a:buNone/>
            </a:pPr>
            <a:r>
              <a:rPr lang="en-US" sz="6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Готовы ответить на вопросы.</a:t>
            </a:r>
            <a:endParaRPr lang="en-US" sz="61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DCEF62D-257C-45CB-8E01-E79FA2FD0747}"/>
              </a:ext>
            </a:extLst>
          </p:cNvPr>
          <p:cNvSpPr/>
          <p:nvPr/>
        </p:nvSpPr>
        <p:spPr>
          <a:xfrm>
            <a:off x="12823116" y="7628691"/>
            <a:ext cx="1807284" cy="469976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686</Words>
  <Application>Microsoft Office PowerPoint</Application>
  <PresentationFormat>Произвольный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Calibri</vt:lpstr>
      <vt:lpstr>Arial</vt:lpstr>
      <vt:lpstr>Quattrocento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Roman Green</cp:lastModifiedBy>
  <cp:revision>3</cp:revision>
  <dcterms:created xsi:type="dcterms:W3CDTF">2026-05-03T22:56:03Z</dcterms:created>
  <dcterms:modified xsi:type="dcterms:W3CDTF">2026-05-03T23:05:13Z</dcterms:modified>
</cp:coreProperties>
</file>